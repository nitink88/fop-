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8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2822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26" y="33252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4308678" y="933450"/>
            <a:ext cx="21808440" cy="6057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4770"/>
              </a:lnSpc>
              <a:buNone/>
            </a:pPr>
            <a:r>
              <a:rPr lang="en-US" sz="3975" b="1" dirty="0">
                <a:solidFill>
                  <a:srgbClr val="021F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Transaction-Safe Bank Account System</a:t>
            </a:r>
            <a:endParaRPr lang="en-US" sz="3975" dirty="0"/>
          </a:p>
        </p:txBody>
      </p:sp>
      <p:sp>
        <p:nvSpPr>
          <p:cNvPr id="4" name="Text 1"/>
          <p:cNvSpPr/>
          <p:nvPr/>
        </p:nvSpPr>
        <p:spPr>
          <a:xfrm>
            <a:off x="-2797493" y="1657350"/>
            <a:ext cx="18653760" cy="4327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3408"/>
              </a:lnSpc>
              <a:buNone/>
            </a:pPr>
            <a:r>
              <a:rPr lang="en-US" sz="2400" b="1" dirty="0">
                <a:solidFill>
                  <a:srgbClr val="216BA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Foundations of Programming Mini Project 2025-26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691890" y="3616035"/>
            <a:ext cx="3631623" cy="3551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673"/>
              </a:lnSpc>
              <a:buNone/>
            </a:pPr>
            <a:r>
              <a:rPr lang="en-US" sz="2025" b="1" dirty="0">
                <a:solidFill>
                  <a:srgbClr val="021F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Team Members:
1. Nitin (PRN: 1262251825)</a:t>
            </a:r>
          </a:p>
          <a:p>
            <a:pPr marL="0" indent="0" algn="ctr">
              <a:lnSpc>
                <a:spcPts val="2673"/>
              </a:lnSpc>
              <a:buNone/>
            </a:pPr>
            <a:r>
              <a:rPr lang="en-US" sz="2025" b="1" dirty="0">
                <a:solidFill>
                  <a:srgbClr val="021F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2. Kartik (PRN: 1262253310)</a:t>
            </a:r>
          </a:p>
          <a:p>
            <a:pPr marL="0" indent="0" algn="ctr">
              <a:lnSpc>
                <a:spcPts val="2673"/>
              </a:lnSpc>
              <a:buNone/>
            </a:pPr>
            <a:r>
              <a:rPr lang="en-US" sz="2025" b="1" dirty="0">
                <a:solidFill>
                  <a:srgbClr val="021F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3. Aditya (PRN: 1262253439)
  4. Kavya (PRN: 1262253592)                        
 5. Arpit (PRN: 1262251891)
Guided by:</a:t>
            </a:r>
          </a:p>
          <a:p>
            <a:pPr marL="0" indent="0" algn="ctr">
              <a:lnSpc>
                <a:spcPts val="2673"/>
              </a:lnSpc>
              <a:buNone/>
            </a:pPr>
            <a:r>
              <a:rPr lang="en-US" sz="2025" b="1" dirty="0">
                <a:solidFill>
                  <a:srgbClr val="021F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Dr. Anushri Kulkarni
</a:t>
            </a:r>
            <a:endParaRPr lang="en-US" sz="20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3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8792" y="3140869"/>
            <a:ext cx="1353294" cy="1268611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140869"/>
            <a:ext cx="1072753" cy="126176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-1007328" y="400050"/>
            <a:ext cx="14813280" cy="54411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4284"/>
              </a:lnSpc>
              <a:buNone/>
            </a:pPr>
            <a:r>
              <a:rPr lang="en-US" sz="3600" b="1" dirty="0">
                <a:solidFill>
                  <a:srgbClr val="1620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Introduction and Motivation</a:t>
            </a:r>
            <a:endParaRPr lang="en-US" sz="3600" dirty="0"/>
          </a:p>
        </p:txBody>
      </p:sp>
      <p:sp>
        <p:nvSpPr>
          <p:cNvPr id="6" name="Text 1"/>
          <p:cNvSpPr/>
          <p:nvPr/>
        </p:nvSpPr>
        <p:spPr>
          <a:xfrm>
            <a:off x="2543175" y="2457450"/>
            <a:ext cx="17727930" cy="3740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342900" indent="-342900">
              <a:lnSpc>
                <a:spcPts val="2945"/>
              </a:lnSpc>
              <a:buFont typeface="Arial" panose="020B0604020202020204" pitchFamily="34" charset="0"/>
              <a:buChar char="•"/>
            </a:pPr>
            <a:r>
              <a:rPr lang="en-US" sz="2475" dirty="0">
                <a:solidFill>
                  <a:srgbClr val="1620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Implements a banking system with crash recovery</a:t>
            </a:r>
            <a:endParaRPr lang="en-US" sz="2475" dirty="0"/>
          </a:p>
        </p:txBody>
      </p:sp>
      <p:sp>
        <p:nvSpPr>
          <p:cNvPr id="7" name="Text 2"/>
          <p:cNvSpPr/>
          <p:nvPr/>
        </p:nvSpPr>
        <p:spPr>
          <a:xfrm>
            <a:off x="2543175" y="3238500"/>
            <a:ext cx="8036123" cy="83552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457200" indent="-457200">
              <a:lnSpc>
                <a:spcPts val="3289"/>
              </a:lnSpc>
              <a:buFont typeface="Arial" panose="020B0604020202020204" pitchFamily="34" charset="0"/>
              <a:buChar char="•"/>
            </a:pPr>
            <a:r>
              <a:rPr lang="en-US" sz="2550" dirty="0">
                <a:solidFill>
                  <a:srgbClr val="1620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Ensures safe money transactions using rollback mechanism</a:t>
            </a:r>
            <a:endParaRPr lang="en-US" sz="2550" dirty="0"/>
          </a:p>
        </p:txBody>
      </p:sp>
      <p:sp>
        <p:nvSpPr>
          <p:cNvPr id="8" name="Text 3"/>
          <p:cNvSpPr/>
          <p:nvPr/>
        </p:nvSpPr>
        <p:spPr>
          <a:xfrm>
            <a:off x="2543175" y="4476750"/>
            <a:ext cx="16596360" cy="3740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342900" indent="-342900">
              <a:lnSpc>
                <a:spcPts val="2945"/>
              </a:lnSpc>
              <a:buFont typeface="Arial" panose="020B0604020202020204" pitchFamily="34" charset="0"/>
              <a:buChar char="•"/>
            </a:pPr>
            <a:r>
              <a:rPr lang="en-US" sz="2475" dirty="0">
                <a:solidFill>
                  <a:srgbClr val="1620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Prevents database corruption during failures</a:t>
            </a:r>
            <a:endParaRPr lang="en-US" sz="2475" dirty="0"/>
          </a:p>
        </p:txBody>
      </p:sp>
      <p:sp>
        <p:nvSpPr>
          <p:cNvPr id="9" name="Text 4"/>
          <p:cNvSpPr/>
          <p:nvPr/>
        </p:nvSpPr>
        <p:spPr>
          <a:xfrm>
            <a:off x="2543175" y="5276850"/>
            <a:ext cx="18653760" cy="38531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457200" indent="-457200">
              <a:lnSpc>
                <a:spcPts val="3035"/>
              </a:lnSpc>
              <a:buFont typeface="Arial" panose="020B0604020202020204" pitchFamily="34" charset="0"/>
              <a:buChar char="•"/>
            </a:pPr>
            <a:r>
              <a:rPr lang="en-US" sz="2550" dirty="0">
                <a:solidFill>
                  <a:srgbClr val="1620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Demonstrates real-world database safety concepts</a:t>
            </a:r>
            <a:endParaRPr lang="en-US" sz="2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373" y="5760690"/>
            <a:ext cx="950863" cy="88463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75169" y="191988"/>
            <a:ext cx="1097161" cy="1104007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-1710258" y="666750"/>
            <a:ext cx="16459200" cy="58727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4624"/>
              </a:lnSpc>
              <a:buNone/>
            </a:pPr>
            <a:r>
              <a:rPr lang="en-US" sz="3375" b="1" dirty="0">
                <a:solidFill>
                  <a:srgbClr val="0B2B6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Problem Statement and Objectives</a:t>
            </a:r>
            <a:endParaRPr lang="en-US" sz="3375" dirty="0"/>
          </a:p>
        </p:txBody>
      </p:sp>
      <p:sp>
        <p:nvSpPr>
          <p:cNvPr id="6" name="Text 1"/>
          <p:cNvSpPr/>
          <p:nvPr/>
        </p:nvSpPr>
        <p:spPr>
          <a:xfrm>
            <a:off x="962025" y="2085975"/>
            <a:ext cx="6377940" cy="4162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278"/>
              </a:lnSpc>
              <a:buNone/>
            </a:pPr>
            <a:r>
              <a:rPr lang="en-US" sz="2325" b="1" dirty="0">
                <a:solidFill>
                  <a:srgbClr val="409FE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Problem Statement:</a:t>
            </a:r>
            <a:endParaRPr lang="en-US" sz="2325" dirty="0"/>
          </a:p>
        </p:txBody>
      </p:sp>
      <p:sp>
        <p:nvSpPr>
          <p:cNvPr id="7" name="Text 2"/>
          <p:cNvSpPr/>
          <p:nvPr/>
        </p:nvSpPr>
        <p:spPr>
          <a:xfrm>
            <a:off x="962025" y="3429000"/>
            <a:ext cx="3897630" cy="4162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278"/>
              </a:lnSpc>
              <a:buNone/>
            </a:pPr>
            <a:r>
              <a:rPr lang="en-US" sz="2325" b="1" dirty="0">
                <a:solidFill>
                  <a:srgbClr val="409FE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Objectives:</a:t>
            </a:r>
            <a:endParaRPr lang="en-US" sz="2325" dirty="0"/>
          </a:p>
        </p:txBody>
      </p:sp>
      <p:sp>
        <p:nvSpPr>
          <p:cNvPr id="8" name="Text 3"/>
          <p:cNvSpPr/>
          <p:nvPr/>
        </p:nvSpPr>
        <p:spPr>
          <a:xfrm>
            <a:off x="1200150" y="2533650"/>
            <a:ext cx="20116800" cy="42981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384"/>
              </a:lnSpc>
              <a:buNone/>
            </a:pPr>
            <a:r>
              <a:rPr lang="en-US" sz="2400" dirty="0">
                <a:solidFill>
                  <a:srgbClr val="0B2B6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Prevent data loss during transaction failure or crash</a:t>
            </a:r>
            <a:endParaRPr lang="en-US" sz="2400" dirty="0"/>
          </a:p>
        </p:txBody>
      </p:sp>
      <p:sp>
        <p:nvSpPr>
          <p:cNvPr id="9" name="Text 4"/>
          <p:cNvSpPr/>
          <p:nvPr/>
        </p:nvSpPr>
        <p:spPr>
          <a:xfrm>
            <a:off x="1200150" y="3876675"/>
            <a:ext cx="9628733" cy="124881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278"/>
              </a:lnSpc>
              <a:buNone/>
            </a:pPr>
            <a:r>
              <a:rPr lang="en-US" sz="2325" dirty="0">
                <a:solidFill>
                  <a:srgbClr val="0B2B6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Maintain consistent account database
• Provide deposit, withdraw, and transfer operations
• Implement backup, restore, and atomic commit system</a:t>
            </a:r>
            <a:endParaRPr lang="en-US" sz="23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626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7467" y="3092946"/>
            <a:ext cx="1792188" cy="179665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439" y="600075"/>
            <a:ext cx="11041380" cy="47610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3749"/>
              </a:lnSpc>
              <a:buNone/>
            </a:pPr>
            <a:r>
              <a:rPr lang="en-US" sz="3150" b="1" dirty="0">
                <a:solidFill>
                  <a:srgbClr val="0025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Individual Contribution</a:t>
            </a:r>
            <a:endParaRPr lang="en-US" sz="3150" dirty="0"/>
          </a:p>
        </p:txBody>
      </p:sp>
      <p:sp>
        <p:nvSpPr>
          <p:cNvPr id="5" name="Text 1"/>
          <p:cNvSpPr/>
          <p:nvPr/>
        </p:nvSpPr>
        <p:spPr>
          <a:xfrm>
            <a:off x="895350" y="2314575"/>
            <a:ext cx="15144750" cy="30718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19"/>
              </a:lnSpc>
              <a:buNone/>
            </a:pPr>
            <a:r>
              <a:rPr lang="en-US" sz="1875" b="1" dirty="0">
                <a:solidFill>
                  <a:srgbClr val="0040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Nitin – PPT design, presentation and result analysis</a:t>
            </a:r>
            <a:endParaRPr lang="en-US" sz="1875" dirty="0"/>
          </a:p>
        </p:txBody>
      </p:sp>
      <p:sp>
        <p:nvSpPr>
          <p:cNvPr id="6" name="Text 2"/>
          <p:cNvSpPr/>
          <p:nvPr/>
        </p:nvSpPr>
        <p:spPr>
          <a:xfrm>
            <a:off x="895350" y="3048000"/>
            <a:ext cx="15087600" cy="29482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322"/>
              </a:lnSpc>
              <a:buNone/>
            </a:pPr>
            <a:r>
              <a:rPr lang="en-US" sz="1800" b="1" dirty="0">
                <a:solidFill>
                  <a:srgbClr val="0040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Kartik – Deposit, withdraw, transfer implementation, presentation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895350" y="3848100"/>
            <a:ext cx="16573500" cy="30718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19"/>
              </a:lnSpc>
              <a:buNone/>
            </a:pPr>
            <a:r>
              <a:rPr lang="en-US" sz="1875" b="1" dirty="0">
                <a:solidFill>
                  <a:srgbClr val="0040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Aditya – Program structure, Roll back mechanism and presentation </a:t>
            </a:r>
            <a:endParaRPr lang="en-US" sz="1875" dirty="0"/>
          </a:p>
        </p:txBody>
      </p:sp>
      <p:sp>
        <p:nvSpPr>
          <p:cNvPr id="8" name="Text 4"/>
          <p:cNvSpPr/>
          <p:nvPr/>
        </p:nvSpPr>
        <p:spPr>
          <a:xfrm>
            <a:off x="895350" y="4648200"/>
            <a:ext cx="14538960" cy="29482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322"/>
              </a:lnSpc>
              <a:buNone/>
            </a:pPr>
            <a:r>
              <a:rPr lang="en-US" sz="1800" b="1" dirty="0">
                <a:solidFill>
                  <a:srgbClr val="0040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Kavya – Documentation, report writing, formatting</a:t>
            </a:r>
            <a:r>
              <a:rPr lang="en-US" b="1" dirty="0">
                <a:solidFill>
                  <a:srgbClr val="0040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and presentation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895350" y="5438775"/>
            <a:ext cx="15144750" cy="30718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419"/>
              </a:lnSpc>
            </a:pPr>
            <a:r>
              <a:rPr lang="en-US" sz="1875" b="1" dirty="0">
                <a:solidFill>
                  <a:srgbClr val="0040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Arpit – Testing, debugging, crash recovery validation and presentation</a:t>
            </a:r>
            <a:endParaRPr lang="en-US" sz="18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3357" y="5829300"/>
            <a:ext cx="963067" cy="966936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1475" y="2866579"/>
            <a:ext cx="1475184" cy="1590973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396" y="2880271"/>
            <a:ext cx="1621482" cy="1522363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837313" y="742950"/>
            <a:ext cx="8938260" cy="57834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4554"/>
              </a:lnSpc>
              <a:buNone/>
            </a:pPr>
            <a:r>
              <a:rPr lang="en-US" sz="3450" b="1" dirty="0">
                <a:solidFill>
                  <a:srgbClr val="0F419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Literature Survey</a:t>
            </a:r>
            <a:endParaRPr lang="en-US" sz="3450" dirty="0"/>
          </a:p>
        </p:txBody>
      </p:sp>
      <p:sp>
        <p:nvSpPr>
          <p:cNvPr id="7" name="Text 1"/>
          <p:cNvSpPr/>
          <p:nvPr/>
        </p:nvSpPr>
        <p:spPr>
          <a:xfrm>
            <a:off x="2790825" y="2143125"/>
            <a:ext cx="13601700" cy="42743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366"/>
              </a:lnSpc>
              <a:buNone/>
            </a:pPr>
            <a:r>
              <a:rPr lang="en-US" sz="2550" dirty="0">
                <a:solidFill>
                  <a:srgbClr val="000A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ACID Properties in Database Systems</a:t>
            </a:r>
            <a:endParaRPr lang="en-US" sz="2550" dirty="0"/>
          </a:p>
        </p:txBody>
      </p:sp>
      <p:sp>
        <p:nvSpPr>
          <p:cNvPr id="8" name="Text 2"/>
          <p:cNvSpPr/>
          <p:nvPr/>
        </p:nvSpPr>
        <p:spPr>
          <a:xfrm>
            <a:off x="2790825" y="3009900"/>
            <a:ext cx="15841980" cy="41493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267"/>
              </a:lnSpc>
              <a:buNone/>
            </a:pPr>
            <a:r>
              <a:rPr lang="en-US" sz="2475" dirty="0">
                <a:solidFill>
                  <a:srgbClr val="000A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File-based transaction recovery techniques</a:t>
            </a:r>
            <a:endParaRPr lang="en-US" sz="2475" dirty="0"/>
          </a:p>
        </p:txBody>
      </p:sp>
      <p:sp>
        <p:nvSpPr>
          <p:cNvPr id="9" name="Text 3"/>
          <p:cNvSpPr/>
          <p:nvPr/>
        </p:nvSpPr>
        <p:spPr>
          <a:xfrm>
            <a:off x="2790825" y="3914775"/>
            <a:ext cx="14333220" cy="41493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267"/>
              </a:lnSpc>
              <a:buNone/>
            </a:pPr>
            <a:r>
              <a:rPr lang="en-US" sz="2475" dirty="0">
                <a:solidFill>
                  <a:srgbClr val="000A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Atomic file replacement using rename()</a:t>
            </a:r>
            <a:endParaRPr lang="en-US" sz="2475" dirty="0"/>
          </a:p>
        </p:txBody>
      </p:sp>
      <p:sp>
        <p:nvSpPr>
          <p:cNvPr id="10" name="Text 4"/>
          <p:cNvSpPr/>
          <p:nvPr/>
        </p:nvSpPr>
        <p:spPr>
          <a:xfrm>
            <a:off x="2790825" y="4800600"/>
            <a:ext cx="17350740" cy="41493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267"/>
              </a:lnSpc>
              <a:buNone/>
            </a:pPr>
            <a:r>
              <a:rPr lang="en-US" sz="2475" dirty="0">
                <a:solidFill>
                  <a:srgbClr val="000A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Binary file storage for performance and safety</a:t>
            </a:r>
            <a:endParaRPr lang="en-US" sz="24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4377" y="5918448"/>
            <a:ext cx="853380" cy="8572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8886" y="1769269"/>
            <a:ext cx="2231082" cy="4196953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873523" y="466725"/>
            <a:ext cx="8915400" cy="6340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4992"/>
              </a:lnSpc>
              <a:buNone/>
            </a:pPr>
            <a:r>
              <a:rPr lang="en-US" sz="3900" b="1" dirty="0">
                <a:solidFill>
                  <a:srgbClr val="1620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Proposed System</a:t>
            </a:r>
            <a:endParaRPr lang="en-US" sz="3900" dirty="0"/>
          </a:p>
        </p:txBody>
      </p:sp>
      <p:sp>
        <p:nvSpPr>
          <p:cNvPr id="6" name="Text 1"/>
          <p:cNvSpPr/>
          <p:nvPr/>
        </p:nvSpPr>
        <p:spPr>
          <a:xfrm>
            <a:off x="962025" y="1838325"/>
            <a:ext cx="15224760" cy="48994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857"/>
              </a:lnSpc>
              <a:buNone/>
            </a:pPr>
            <a:r>
              <a:rPr lang="en-US" sz="2775" dirty="0">
                <a:solidFill>
                  <a:srgbClr val="1620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Binary file-based banking database</a:t>
            </a:r>
            <a:endParaRPr lang="en-US" sz="2775" dirty="0"/>
          </a:p>
        </p:txBody>
      </p:sp>
      <p:sp>
        <p:nvSpPr>
          <p:cNvPr id="7" name="Text 2"/>
          <p:cNvSpPr/>
          <p:nvPr/>
        </p:nvSpPr>
        <p:spPr>
          <a:xfrm>
            <a:off x="962025" y="2524125"/>
            <a:ext cx="15224760" cy="4766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753"/>
              </a:lnSpc>
              <a:buNone/>
            </a:pPr>
            <a:r>
              <a:rPr lang="en-US" sz="2700" dirty="0">
                <a:solidFill>
                  <a:srgbClr val="1620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Undo backup before each transaction</a:t>
            </a:r>
            <a:endParaRPr lang="en-US" sz="2700" dirty="0"/>
          </a:p>
        </p:txBody>
      </p:sp>
      <p:sp>
        <p:nvSpPr>
          <p:cNvPr id="8" name="Text 3"/>
          <p:cNvSpPr/>
          <p:nvPr/>
        </p:nvSpPr>
        <p:spPr>
          <a:xfrm>
            <a:off x="962025" y="3228975"/>
            <a:ext cx="13578840" cy="4766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753"/>
              </a:lnSpc>
              <a:buNone/>
            </a:pPr>
            <a:r>
              <a:rPr lang="en-US" sz="2700" dirty="0">
                <a:solidFill>
                  <a:srgbClr val="1620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Temporary file commit mechanism</a:t>
            </a:r>
            <a:endParaRPr lang="en-US" sz="2700" dirty="0"/>
          </a:p>
        </p:txBody>
      </p:sp>
      <p:sp>
        <p:nvSpPr>
          <p:cNvPr id="9" name="Text 4"/>
          <p:cNvSpPr/>
          <p:nvPr/>
        </p:nvSpPr>
        <p:spPr>
          <a:xfrm>
            <a:off x="962025" y="3962400"/>
            <a:ext cx="16459200" cy="4766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753"/>
              </a:lnSpc>
              <a:buNone/>
            </a:pPr>
            <a:r>
              <a:rPr lang="en-US" sz="2700" dirty="0">
                <a:solidFill>
                  <a:srgbClr val="1620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Automatic crash detection and recovery</a:t>
            </a:r>
            <a:endParaRPr lang="en-US" sz="2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1357" y="2482453"/>
            <a:ext cx="987475" cy="836563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3459" y="2516832"/>
            <a:ext cx="1097161" cy="78179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-1452577" y="457200"/>
            <a:ext cx="15933420" cy="50765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3997"/>
              </a:lnSpc>
              <a:buNone/>
            </a:pPr>
            <a:r>
              <a:rPr lang="en-US" sz="3075" b="1" dirty="0">
                <a:solidFill>
                  <a:srgbClr val="16316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Hardware and Software Requirements</a:t>
            </a:r>
            <a:endParaRPr lang="en-US" sz="3075" dirty="0"/>
          </a:p>
        </p:txBody>
      </p:sp>
      <p:sp>
        <p:nvSpPr>
          <p:cNvPr id="6" name="Text 1"/>
          <p:cNvSpPr/>
          <p:nvPr/>
        </p:nvSpPr>
        <p:spPr>
          <a:xfrm>
            <a:off x="1323975" y="3609975"/>
            <a:ext cx="3497580" cy="4177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289"/>
              </a:lnSpc>
              <a:buNone/>
            </a:pPr>
            <a:r>
              <a:rPr lang="en-US" sz="2550" b="1" dirty="0">
                <a:solidFill>
                  <a:srgbClr val="16316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Hardware:</a:t>
            </a:r>
            <a:endParaRPr lang="en-US" sz="2550" dirty="0"/>
          </a:p>
        </p:txBody>
      </p:sp>
      <p:sp>
        <p:nvSpPr>
          <p:cNvPr id="7" name="Text 2"/>
          <p:cNvSpPr/>
          <p:nvPr/>
        </p:nvSpPr>
        <p:spPr>
          <a:xfrm>
            <a:off x="6591300" y="3609975"/>
            <a:ext cx="3497580" cy="4177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289"/>
              </a:lnSpc>
              <a:buNone/>
            </a:pPr>
            <a:r>
              <a:rPr lang="en-US" sz="2550" b="1" dirty="0">
                <a:solidFill>
                  <a:srgbClr val="16316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Software:</a:t>
            </a:r>
            <a:endParaRPr lang="en-US" sz="2550" dirty="0"/>
          </a:p>
        </p:txBody>
      </p:sp>
      <p:sp>
        <p:nvSpPr>
          <p:cNvPr id="8" name="Text 3"/>
          <p:cNvSpPr/>
          <p:nvPr/>
        </p:nvSpPr>
        <p:spPr>
          <a:xfrm>
            <a:off x="1628775" y="4305300"/>
            <a:ext cx="6172200" cy="3400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678"/>
              </a:lnSpc>
              <a:buNone/>
            </a:pPr>
            <a:r>
              <a:rPr lang="en-US" sz="2250" dirty="0">
                <a:solidFill>
                  <a:srgbClr val="16316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Standard PC/Laptop</a:t>
            </a:r>
            <a:endParaRPr lang="en-US" sz="2250" dirty="0"/>
          </a:p>
        </p:txBody>
      </p:sp>
      <p:sp>
        <p:nvSpPr>
          <p:cNvPr id="9" name="Text 4"/>
          <p:cNvSpPr/>
          <p:nvPr/>
        </p:nvSpPr>
        <p:spPr>
          <a:xfrm>
            <a:off x="1628775" y="4819650"/>
            <a:ext cx="6057900" cy="3400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678"/>
              </a:lnSpc>
              <a:buNone/>
            </a:pPr>
            <a:r>
              <a:rPr lang="en-US" sz="2250" dirty="0">
                <a:solidFill>
                  <a:srgbClr val="16316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RAM: Minimum 4 GB</a:t>
            </a:r>
            <a:endParaRPr lang="en-US" sz="2250" dirty="0"/>
          </a:p>
        </p:txBody>
      </p:sp>
      <p:sp>
        <p:nvSpPr>
          <p:cNvPr id="10" name="Text 5"/>
          <p:cNvSpPr/>
          <p:nvPr/>
        </p:nvSpPr>
        <p:spPr>
          <a:xfrm>
            <a:off x="6934200" y="4305300"/>
            <a:ext cx="9212580" cy="35138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67"/>
              </a:lnSpc>
              <a:buNone/>
            </a:pPr>
            <a:r>
              <a:rPr lang="en-US" sz="2325" dirty="0">
                <a:solidFill>
                  <a:srgbClr val="16316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 Compiler (GCC / Turbo C)</a:t>
            </a:r>
            <a:endParaRPr lang="en-US" sz="2325" dirty="0"/>
          </a:p>
        </p:txBody>
      </p:sp>
      <p:sp>
        <p:nvSpPr>
          <p:cNvPr id="11" name="Text 6"/>
          <p:cNvSpPr/>
          <p:nvPr/>
        </p:nvSpPr>
        <p:spPr>
          <a:xfrm>
            <a:off x="6934200" y="4819650"/>
            <a:ext cx="4610100" cy="65752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588"/>
              </a:lnSpc>
              <a:buNone/>
            </a:pPr>
            <a:r>
              <a:rPr lang="en-US" sz="2175" dirty="0">
                <a:solidFill>
                  <a:srgbClr val="16316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Operating System: Windows /
Linux</a:t>
            </a:r>
            <a:endParaRPr lang="en-US" sz="21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9192" y="2852886"/>
            <a:ext cx="1828800" cy="1721346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973" y="2962573"/>
            <a:ext cx="1511796" cy="1549896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-2110800" y="466725"/>
            <a:ext cx="17339310" cy="5155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4059"/>
              </a:lnSpc>
              <a:buNone/>
            </a:pPr>
            <a:r>
              <a:rPr lang="en-US" sz="3075" b="1" dirty="0">
                <a:solidFill>
                  <a:srgbClr val="0B2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Implementation and Experimental Setup</a:t>
            </a:r>
            <a:endParaRPr lang="en-US" sz="3075" dirty="0"/>
          </a:p>
        </p:txBody>
      </p:sp>
      <p:sp>
        <p:nvSpPr>
          <p:cNvPr id="6" name="Text 1"/>
          <p:cNvSpPr/>
          <p:nvPr/>
        </p:nvSpPr>
        <p:spPr>
          <a:xfrm>
            <a:off x="3048000" y="2038350"/>
            <a:ext cx="9429750" cy="3804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995"/>
              </a:lnSpc>
              <a:buNone/>
            </a:pPr>
            <a:r>
              <a:rPr lang="en-US" sz="2475" dirty="0">
                <a:solidFill>
                  <a:srgbClr val="0B2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 Language: C Programming</a:t>
            </a:r>
            <a:endParaRPr lang="en-US" sz="2475" dirty="0"/>
          </a:p>
        </p:txBody>
      </p:sp>
      <p:sp>
        <p:nvSpPr>
          <p:cNvPr id="7" name="Text 2"/>
          <p:cNvSpPr/>
          <p:nvPr/>
        </p:nvSpPr>
        <p:spPr>
          <a:xfrm>
            <a:off x="3048000" y="3067050"/>
            <a:ext cx="15464790" cy="3804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995"/>
              </a:lnSpc>
              <a:buNone/>
            </a:pPr>
            <a:r>
              <a:rPr lang="en-US" sz="2475" dirty="0">
                <a:solidFill>
                  <a:srgbClr val="0B2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 Binary file handling using fread/fwrite</a:t>
            </a:r>
            <a:endParaRPr lang="en-US" sz="2475" dirty="0"/>
          </a:p>
        </p:txBody>
      </p:sp>
      <p:sp>
        <p:nvSpPr>
          <p:cNvPr id="8" name="Text 3"/>
          <p:cNvSpPr/>
          <p:nvPr/>
        </p:nvSpPr>
        <p:spPr>
          <a:xfrm>
            <a:off x="3048000" y="4124325"/>
            <a:ext cx="13956030" cy="3804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995"/>
              </a:lnSpc>
              <a:buNone/>
            </a:pPr>
            <a:r>
              <a:rPr lang="en-US" sz="2475" dirty="0">
                <a:solidFill>
                  <a:srgbClr val="0B2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 Rollback using undo.dat backup file</a:t>
            </a:r>
            <a:endParaRPr lang="en-US" sz="2475" dirty="0"/>
          </a:p>
        </p:txBody>
      </p:sp>
      <p:sp>
        <p:nvSpPr>
          <p:cNvPr id="9" name="Text 4"/>
          <p:cNvSpPr/>
          <p:nvPr/>
        </p:nvSpPr>
        <p:spPr>
          <a:xfrm>
            <a:off x="3048000" y="5162550"/>
            <a:ext cx="11315700" cy="3804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995"/>
              </a:lnSpc>
              <a:buNone/>
            </a:pPr>
            <a:r>
              <a:rPr lang="en-US" sz="2475" dirty="0">
                <a:solidFill>
                  <a:srgbClr val="0B2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 Atomic commit using rename()</a:t>
            </a:r>
            <a:endParaRPr lang="en-US" sz="24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3058567"/>
            <a:ext cx="1487388" cy="15430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157" y="3099792"/>
            <a:ext cx="1450777" cy="14744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338593" y="600075"/>
            <a:ext cx="3680460" cy="52581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4140"/>
              </a:lnSpc>
              <a:buNone/>
            </a:pPr>
            <a:r>
              <a:rPr lang="en-US" sz="3450" b="1" dirty="0">
                <a:solidFill>
                  <a:srgbClr val="1638A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Results</a:t>
            </a:r>
            <a:endParaRPr lang="en-US" sz="3450" dirty="0"/>
          </a:p>
        </p:txBody>
      </p:sp>
      <p:sp>
        <p:nvSpPr>
          <p:cNvPr id="6" name="Text 1"/>
          <p:cNvSpPr/>
          <p:nvPr/>
        </p:nvSpPr>
        <p:spPr>
          <a:xfrm>
            <a:off x="2990850" y="2238375"/>
            <a:ext cx="16093440" cy="39930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144"/>
              </a:lnSpc>
              <a:buNone/>
            </a:pPr>
            <a:r>
              <a:rPr lang="en-US" sz="2400" dirty="0">
                <a:solidFill>
                  <a:srgbClr val="0B1A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Transactions safely committed or rolled back</a:t>
            </a:r>
            <a:endParaRPr lang="en-US" sz="2400" dirty="0"/>
          </a:p>
        </p:txBody>
      </p:sp>
      <p:sp>
        <p:nvSpPr>
          <p:cNvPr id="7" name="Text 2"/>
          <p:cNvSpPr/>
          <p:nvPr/>
        </p:nvSpPr>
        <p:spPr>
          <a:xfrm>
            <a:off x="2990850" y="3200400"/>
            <a:ext cx="14264640" cy="39930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144"/>
              </a:lnSpc>
              <a:buNone/>
            </a:pPr>
            <a:r>
              <a:rPr lang="en-US" sz="2400" dirty="0">
                <a:solidFill>
                  <a:srgbClr val="0B1A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Database remains consistent after crash</a:t>
            </a:r>
            <a:endParaRPr lang="en-US" sz="2400" dirty="0"/>
          </a:p>
        </p:txBody>
      </p:sp>
      <p:sp>
        <p:nvSpPr>
          <p:cNvPr id="8" name="Text 3"/>
          <p:cNvSpPr/>
          <p:nvPr/>
        </p:nvSpPr>
        <p:spPr>
          <a:xfrm>
            <a:off x="2990850" y="4171950"/>
            <a:ext cx="15727680" cy="39930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144"/>
              </a:lnSpc>
              <a:buNone/>
            </a:pPr>
            <a:r>
              <a:rPr lang="en-US" sz="2400" dirty="0">
                <a:solidFill>
                  <a:srgbClr val="0B1A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Demonstrates real banking safety principles</a:t>
            </a:r>
            <a:endParaRPr lang="en-US" sz="2400" dirty="0"/>
          </a:p>
        </p:txBody>
      </p:sp>
      <p:sp>
        <p:nvSpPr>
          <p:cNvPr id="9" name="Text 4"/>
          <p:cNvSpPr/>
          <p:nvPr/>
        </p:nvSpPr>
        <p:spPr>
          <a:xfrm>
            <a:off x="2990850" y="5143500"/>
            <a:ext cx="16093440" cy="39930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144"/>
              </a:lnSpc>
              <a:buNone/>
            </a:pPr>
            <a:r>
              <a:rPr lang="en-US" sz="2400" dirty="0">
                <a:solidFill>
                  <a:srgbClr val="0B1A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Useful learning of file systems and recovery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9098" y="6130975"/>
            <a:ext cx="889992" cy="58965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424684" y="419100"/>
            <a:ext cx="5600700" cy="6161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4851"/>
              </a:lnSpc>
              <a:buNone/>
            </a:pPr>
            <a:r>
              <a:rPr lang="en-US" sz="3675" b="1" dirty="0">
                <a:solidFill>
                  <a:srgbClr val="0025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Conclusion</a:t>
            </a:r>
            <a:endParaRPr lang="en-US" sz="3675" dirty="0"/>
          </a:p>
        </p:txBody>
      </p:sp>
      <p:sp>
        <p:nvSpPr>
          <p:cNvPr id="5" name="Text 1"/>
          <p:cNvSpPr/>
          <p:nvPr/>
        </p:nvSpPr>
        <p:spPr>
          <a:xfrm>
            <a:off x="1200150" y="1647825"/>
            <a:ext cx="10571708" cy="95547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762"/>
              </a:lnSpc>
              <a:buNone/>
            </a:pPr>
            <a:r>
              <a:rPr lang="en-US" sz="2850" dirty="0">
                <a:solidFill>
                  <a:srgbClr val="0025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Ensures atomic transactions through robust rollback
mechanisms</a:t>
            </a:r>
            <a:endParaRPr lang="en-US" sz="2850" dirty="0"/>
          </a:p>
        </p:txBody>
      </p:sp>
      <p:sp>
        <p:nvSpPr>
          <p:cNvPr id="6" name="Text 2"/>
          <p:cNvSpPr/>
          <p:nvPr/>
        </p:nvSpPr>
        <p:spPr>
          <a:xfrm>
            <a:off x="1200150" y="3048000"/>
            <a:ext cx="10320338" cy="95547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762"/>
              </a:lnSpc>
              <a:buNone/>
            </a:pPr>
            <a:r>
              <a:rPr lang="en-US" sz="2850" dirty="0">
                <a:solidFill>
                  <a:srgbClr val="0025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Provides valuable learning foundation for database
recovery concepts</a:t>
            </a:r>
            <a:endParaRPr lang="en-US" sz="2850" dirty="0"/>
          </a:p>
        </p:txBody>
      </p:sp>
      <p:sp>
        <p:nvSpPr>
          <p:cNvPr id="7" name="Text 3"/>
          <p:cNvSpPr/>
          <p:nvPr/>
        </p:nvSpPr>
        <p:spPr>
          <a:xfrm>
            <a:off x="1200150" y="4457700"/>
            <a:ext cx="9922073" cy="95547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762"/>
              </a:lnSpc>
              <a:buNone/>
            </a:pPr>
            <a:r>
              <a:rPr lang="en-US" sz="2850" dirty="0">
                <a:solidFill>
                  <a:srgbClr val="0025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Demonstrates strong principles applicable to real
banking systems</a:t>
            </a:r>
            <a:endParaRPr lang="en-US" sz="2850" dirty="0"/>
          </a:p>
        </p:txBody>
      </p:sp>
      <p:sp>
        <p:nvSpPr>
          <p:cNvPr id="8" name="Text 4"/>
          <p:cNvSpPr/>
          <p:nvPr/>
        </p:nvSpPr>
        <p:spPr>
          <a:xfrm>
            <a:off x="2419350" y="5848350"/>
            <a:ext cx="8067675" cy="85963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3384"/>
              </a:lnSpc>
              <a:buNone/>
            </a:pPr>
            <a:r>
              <a:rPr lang="en-US" sz="2400" i="1" dirty="0">
                <a:solidFill>
                  <a:srgbClr val="4A90E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 comprehensive foundation for understanding
transaction safety in banking applications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0996" y="2777430"/>
            <a:ext cx="1255663" cy="130299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192" y="2763738"/>
            <a:ext cx="1426369" cy="1337221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3255615" y="419100"/>
            <a:ext cx="5943600" cy="57447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4524"/>
              </a:lnSpc>
              <a:buNone/>
            </a:pPr>
            <a:r>
              <a:rPr lang="en-US" sz="3900" b="1" dirty="0">
                <a:solidFill>
                  <a:srgbClr val="1620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References</a:t>
            </a:r>
            <a:endParaRPr lang="en-US" sz="3900" dirty="0"/>
          </a:p>
        </p:txBody>
      </p:sp>
      <p:sp>
        <p:nvSpPr>
          <p:cNvPr id="6" name="Text 1"/>
          <p:cNvSpPr/>
          <p:nvPr/>
        </p:nvSpPr>
        <p:spPr>
          <a:xfrm>
            <a:off x="4080927" y="5905500"/>
            <a:ext cx="4217670" cy="50378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3967"/>
              </a:lnSpc>
              <a:buNone/>
            </a:pPr>
            <a:r>
              <a:rPr lang="en-US" sz="3075" i="1" dirty="0">
                <a:solidFill>
                  <a:srgbClr val="409F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Thank You</a:t>
            </a:r>
            <a:endParaRPr lang="en-US" sz="3075" dirty="0"/>
          </a:p>
        </p:txBody>
      </p:sp>
      <p:sp>
        <p:nvSpPr>
          <p:cNvPr id="7" name="Text 2"/>
          <p:cNvSpPr/>
          <p:nvPr/>
        </p:nvSpPr>
        <p:spPr>
          <a:xfrm>
            <a:off x="2600325" y="2209800"/>
            <a:ext cx="17068800" cy="47342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728"/>
              </a:lnSpc>
              <a:buNone/>
            </a:pPr>
            <a:r>
              <a:rPr lang="en-US" sz="2625" dirty="0">
                <a:solidFill>
                  <a:srgbClr val="1620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Database System Concepts – Silberschatz</a:t>
            </a:r>
            <a:endParaRPr lang="en-US" sz="2625" dirty="0"/>
          </a:p>
        </p:txBody>
      </p:sp>
      <p:sp>
        <p:nvSpPr>
          <p:cNvPr id="8" name="Text 3"/>
          <p:cNvSpPr/>
          <p:nvPr/>
        </p:nvSpPr>
        <p:spPr>
          <a:xfrm>
            <a:off x="2600325" y="3324225"/>
            <a:ext cx="17068800" cy="47342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728"/>
              </a:lnSpc>
              <a:buNone/>
            </a:pPr>
            <a:r>
              <a:rPr lang="en-US" sz="2625" dirty="0">
                <a:solidFill>
                  <a:srgbClr val="1620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Operating System File Handling Concepts</a:t>
            </a:r>
            <a:endParaRPr lang="en-US" sz="2625" dirty="0"/>
          </a:p>
        </p:txBody>
      </p:sp>
      <p:sp>
        <p:nvSpPr>
          <p:cNvPr id="9" name="Text 4"/>
          <p:cNvSpPr/>
          <p:nvPr/>
        </p:nvSpPr>
        <p:spPr>
          <a:xfrm>
            <a:off x="2600325" y="4476750"/>
            <a:ext cx="15415260" cy="45987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21"/>
              </a:lnSpc>
              <a:buNone/>
            </a:pPr>
            <a:r>
              <a:rPr lang="en-US" sz="2550" dirty="0">
                <a:solidFill>
                  <a:srgbClr val="1620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C Programming File I/O Documentation</a:t>
            </a:r>
            <a:endParaRPr lang="en-US" sz="2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403</Words>
  <Application>Microsoft Office PowerPoint</Application>
  <PresentationFormat>Widescreen</PresentationFormat>
  <Paragraphs>70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Noto Sans</vt:lpstr>
      <vt:lpstr>Noto Sans JP</vt:lpstr>
      <vt:lpstr>Noto Sans KR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Arpit Balhal</cp:lastModifiedBy>
  <cp:revision>2</cp:revision>
  <dcterms:created xsi:type="dcterms:W3CDTF">2026-02-17T16:44:59Z</dcterms:created>
  <dcterms:modified xsi:type="dcterms:W3CDTF">2026-02-17T17:05:44Z</dcterms:modified>
</cp:coreProperties>
</file>